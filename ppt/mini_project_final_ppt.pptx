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60" r:id="rId9"/>
    <p:sldId id="261" r:id="rId10"/>
    <p:sldId id="262" r:id="rId11"/>
    <p:sldId id="270" r:id="rId12"/>
    <p:sldId id="271" r:id="rId13"/>
    <p:sldId id="272" r:id="rId14"/>
    <p:sldId id="264" r:id="rId15"/>
    <p:sldId id="265" r:id="rId16"/>
    <p:sldId id="273" r:id="rId17"/>
    <p:sldId id="274" r:id="rId18"/>
  </p:sldIdLst>
  <p:sldSz cx="14630400" cy="8229600"/>
  <p:notesSz cx="8229600" cy="14630400"/>
  <p:embeddedFontLst>
    <p:embeddedFont>
      <p:font typeface="Libre Baskerville" panose="02000000000000000000" pitchFamily="2" charset="0"/>
      <p:regular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6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0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FED0E-FA83-7292-158A-66A8FA37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24FC6-0D2C-650B-2559-842DCE25A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CD226-8A05-731B-D387-604417951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41E69-C199-B70A-DCCB-91392C1E7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9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04C3-C4CA-3C10-F6FD-FB4A86FC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794E3-6235-2305-C314-516259A29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A1A6C-4E71-64C4-E23D-6D1356C1C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DD4BD-8978-53A8-E284-38AC84A89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13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32D32-0C96-F68E-37F8-650E7B1E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BB023-A9B5-C701-BD23-934AB7684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D35F5-80F0-D8B8-C2B3-FFF662D95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9EFF5-A096-DE65-35EB-95B541129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42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963B8-20A9-002D-F6E6-CF906F6F5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120F5-FD78-9938-8854-C053C4DA9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B4BC0-7DB0-B1EA-EC47-89C5923D0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F693A-B677-C97A-906D-289A22AEDB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91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9504-5EC7-2277-8894-06A6DF6C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653BD-C4A7-FCEF-02AA-5FC65B719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61C84-D548-BA0F-4F3F-9E3FB24D7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6E2EA-7E44-08EF-E305-7090976D80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45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126A-4A18-2620-1938-E88E5203B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1F0EC-514D-1610-8964-A5DA31E7D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88481-2BBD-257B-6BD0-D5D3913F5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E2109-270A-B1B8-F673-A262B58DD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22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89A5-27A2-67C9-421F-A8320D6C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85B60-8041-2AFB-74C9-43731B410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D19A3-0C71-0290-D93A-2C38A8D0C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F27E7-5EE9-BDB7-A68C-52434113B3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86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E5E25-7467-8ADB-3539-41873D08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60A1F-720B-B489-BFDC-67FBCAA97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7CEA0-35B0-2AB2-5903-A93A0DB42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F9901-07FC-DFE7-CA6B-144062EE66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19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FEA4-EDFC-C2AB-4D88-0E96F89B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50B3B-70C6-37C8-C127-7BCEA51C2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7D227-10C6-21DD-F54C-650F3BEAF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55841-0C5A-492D-995F-DC9314BE5B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31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-100743" y="2375623"/>
            <a:ext cx="14831878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BlogSpace: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A Student-Centric Blogging Platform</a:t>
            </a:r>
            <a:endParaRPr lang="en-US" sz="4450" dirty="0">
              <a:latin typeface="Times New Roman" panose="02020603050405020304" pitchFamily="18" charset="0"/>
            </a:endParaRPr>
          </a:p>
        </p:txBody>
      </p:sp>
      <p:pic>
        <p:nvPicPr>
          <p:cNvPr id="1026" name="Picture 2" descr="nitm-mobile | BBDITM">
            <a:extLst>
              <a:ext uri="{FF2B5EF4-FFF2-40B4-BE49-F238E27FC236}">
                <a16:creationId xmlns:a16="http://schemas.microsoft.com/office/drawing/2014/main" id="{5048B4F9-3494-B63E-D6E8-8A5936BB1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254" y="96057"/>
            <a:ext cx="7087891" cy="135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6AE01B-C667-82CA-10D9-74CDDC2813D2}"/>
              </a:ext>
            </a:extLst>
          </p:cNvPr>
          <p:cNvSpPr txBox="1"/>
          <p:nvPr/>
        </p:nvSpPr>
        <p:spPr>
          <a:xfrm>
            <a:off x="9548249" y="6024510"/>
            <a:ext cx="46959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Presented To:</a:t>
            </a:r>
          </a:p>
          <a:p>
            <a:pPr algn="ctr"/>
            <a:r>
              <a:rPr lang="en-US" sz="3200" b="1" dirty="0"/>
              <a:t> Mrs. Saumya Saxena </a:t>
            </a:r>
          </a:p>
          <a:p>
            <a:pPr algn="ctr"/>
            <a:r>
              <a:rPr lang="en-US" sz="3200" b="1" dirty="0"/>
              <a:t>(Assistant Professor) </a:t>
            </a:r>
            <a:endParaRPr lang="en-IN" sz="32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76CA0C-8BE1-1A35-1651-D610F13B2C80}"/>
              </a:ext>
            </a:extLst>
          </p:cNvPr>
          <p:cNvSpPr/>
          <p:nvPr/>
        </p:nvSpPr>
        <p:spPr>
          <a:xfrm>
            <a:off x="12817098" y="7733654"/>
            <a:ext cx="1782305" cy="480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B5A4B-15FD-1885-8DB8-576284637DB0}"/>
              </a:ext>
            </a:extLst>
          </p:cNvPr>
          <p:cNvSpPr txBox="1"/>
          <p:nvPr/>
        </p:nvSpPr>
        <p:spPr>
          <a:xfrm>
            <a:off x="423617" y="4462453"/>
            <a:ext cx="41948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Team Members :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Ananya Singh (Leader)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Anshika Srivastava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Ayush Srivastava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Chirag Gupta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Mayank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FF4AAB-1450-093E-D287-749C43B023DC}"/>
              </a:ext>
            </a:extLst>
          </p:cNvPr>
          <p:cNvSpPr txBox="1"/>
          <p:nvPr/>
        </p:nvSpPr>
        <p:spPr>
          <a:xfrm>
            <a:off x="5326248" y="1452724"/>
            <a:ext cx="39778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Session:-  2025 -2026</a:t>
            </a:r>
            <a:endParaRPr lang="en-IN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CA4A0-29C3-2ACD-1ACB-4FA387F9C4E9}"/>
              </a:ext>
            </a:extLst>
          </p:cNvPr>
          <p:cNvSpPr txBox="1"/>
          <p:nvPr/>
        </p:nvSpPr>
        <p:spPr>
          <a:xfrm>
            <a:off x="5142852" y="5110155"/>
            <a:ext cx="38810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Mini Project Assessment</a:t>
            </a:r>
          </a:p>
          <a:p>
            <a:pPr algn="ctr"/>
            <a:r>
              <a:rPr lang="en-US" sz="4000" b="1" dirty="0"/>
              <a:t>(BCC-351) </a:t>
            </a:r>
            <a:endParaRPr lang="en-IN" sz="4000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5A6388-BEA9-05BB-C772-E9348FC7AA8C}"/>
              </a:ext>
            </a:extLst>
          </p:cNvPr>
          <p:cNvCxnSpPr/>
          <p:nvPr/>
        </p:nvCxnSpPr>
        <p:spPr>
          <a:xfrm>
            <a:off x="0" y="1518835"/>
            <a:ext cx="14731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56EA33-4D45-1A55-3264-298D867E5EDC}"/>
              </a:ext>
            </a:extLst>
          </p:cNvPr>
          <p:cNvCxnSpPr/>
          <p:nvPr/>
        </p:nvCxnSpPr>
        <p:spPr>
          <a:xfrm>
            <a:off x="5264256" y="2037499"/>
            <a:ext cx="38487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DEB826-9C75-8FF8-69E5-DE83DF988447}"/>
              </a:ext>
            </a:extLst>
          </p:cNvPr>
          <p:cNvCxnSpPr>
            <a:cxnSpLocks/>
          </p:cNvCxnSpPr>
          <p:nvPr/>
        </p:nvCxnSpPr>
        <p:spPr>
          <a:xfrm>
            <a:off x="0" y="3905573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D445852-A09F-8410-B048-2289304C8D69}"/>
              </a:ext>
            </a:extLst>
          </p:cNvPr>
          <p:cNvCxnSpPr/>
          <p:nvPr/>
        </p:nvCxnSpPr>
        <p:spPr>
          <a:xfrm>
            <a:off x="4757980" y="3905573"/>
            <a:ext cx="0" cy="4324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1C2D31-C1CF-1D85-BB38-307389FA4870}"/>
              </a:ext>
            </a:extLst>
          </p:cNvPr>
          <p:cNvCxnSpPr/>
          <p:nvPr/>
        </p:nvCxnSpPr>
        <p:spPr>
          <a:xfrm>
            <a:off x="9304147" y="3905573"/>
            <a:ext cx="0" cy="4324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3574" y="460890"/>
            <a:ext cx="10043252" cy="528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800" dirty="0"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Introduction: The World of Blogging</a:t>
            </a:r>
            <a:endParaRPr 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95051" y="1570810"/>
            <a:ext cx="3840298" cy="706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4000" dirty="0"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What is Blogging?</a:t>
            </a:r>
            <a:endParaRPr lang="en-US" sz="4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217" y="1903452"/>
            <a:ext cx="6516648" cy="206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06237" y="2990888"/>
            <a:ext cx="6516648" cy="237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C790C-E9E9-0095-23F1-72A9B0C8E0E8}"/>
              </a:ext>
            </a:extLst>
          </p:cNvPr>
          <p:cNvSpPr txBox="1"/>
          <p:nvPr/>
        </p:nvSpPr>
        <p:spPr>
          <a:xfrm>
            <a:off x="487011" y="5279707"/>
            <a:ext cx="819204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personal journals to professional portfolios, blogs have revolutionized how we communicate and share knowledge in the digital age.</a:t>
            </a:r>
            <a:endParaRPr lang="en-US" sz="2800" dirty="0"/>
          </a:p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DC81F-8F2B-A281-A12C-70350E63BA28}"/>
              </a:ext>
            </a:extLst>
          </p:cNvPr>
          <p:cNvSpPr txBox="1"/>
          <p:nvPr/>
        </p:nvSpPr>
        <p:spPr>
          <a:xfrm>
            <a:off x="559580" y="3018494"/>
            <a:ext cx="1338725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Blogging is the practice of regularly updating a website with informal, conversational posts that share thoughts, experiences, and expertise with an online audience.</a:t>
            </a:r>
            <a:endParaRPr lang="en-US" sz="2800" dirty="0"/>
          </a:p>
          <a:p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181106-E6AE-10E4-7B20-D446D7CC2A76}"/>
              </a:ext>
            </a:extLst>
          </p:cNvPr>
          <p:cNvCxnSpPr/>
          <p:nvPr/>
        </p:nvCxnSpPr>
        <p:spPr>
          <a:xfrm>
            <a:off x="0" y="2541722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Blog Icon Iso - Blogging Icon, HD Png Download - kindpng">
            <a:extLst>
              <a:ext uri="{FF2B5EF4-FFF2-40B4-BE49-F238E27FC236}">
                <a16:creationId xmlns:a16="http://schemas.microsoft.com/office/drawing/2014/main" id="{93137971-0995-C18A-2F3C-DA52B6547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105" y="4680487"/>
            <a:ext cx="5317295" cy="34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E3B53C-B8C9-5FB8-3EC1-354097D77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08FD08-E40F-100B-3E1A-0014A06FE8C3}"/>
              </a:ext>
            </a:extLst>
          </p:cNvPr>
          <p:cNvCxnSpPr/>
          <p:nvPr/>
        </p:nvCxnSpPr>
        <p:spPr>
          <a:xfrm flipH="1">
            <a:off x="-15498" y="4680487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79905" y="6898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Problem Statement ?</a:t>
            </a:r>
            <a:endParaRPr lang="en-US" sz="5400" dirty="0">
              <a:latin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6337" y="1988503"/>
            <a:ext cx="3664744" cy="3475792"/>
          </a:xfrm>
          <a:prstGeom prst="roundRect">
            <a:avLst>
              <a:gd name="adj" fmla="val 979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33151" y="2215317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Limited Personal Expression</a:t>
            </a:r>
            <a:endParaRPr 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3151" y="3060065"/>
            <a:ext cx="3211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lack accessible platforms to share academic insights, creative writing, and personal experiences with peers and educators.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435220" y="2004001"/>
            <a:ext cx="3664863" cy="3475792"/>
          </a:xfrm>
          <a:prstGeom prst="roundRect">
            <a:avLst>
              <a:gd name="adj" fmla="val 979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10662034" y="2230815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Complex Existing Platforms</a:t>
            </a:r>
            <a:endParaRPr 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662034" y="3075563"/>
            <a:ext cx="321123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blogging solutions are either too complex for beginners or lack customization options suitable for small student groups.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3382013" y="5985578"/>
            <a:ext cx="7556421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5742605" y="61905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Gap We Address</a:t>
            </a:r>
            <a:endParaRPr 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08827" y="6702810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platform bridges this gap by providing an intuitive, feature-rich environment designed specifically for student needs and academic collaboration.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43617E-45A4-07F9-007C-604C74FF1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pic>
        <p:nvPicPr>
          <p:cNvPr id="3074" name="Picture 2" descr="420+ Problem Statement Icon Stock Illustrations, Royalty-Free Vector  Graphics &amp; Clip Art - iStock">
            <a:extLst>
              <a:ext uri="{FF2B5EF4-FFF2-40B4-BE49-F238E27FC236}">
                <a16:creationId xmlns:a16="http://schemas.microsoft.com/office/drawing/2014/main" id="{0B48A075-A644-9EE8-B5CB-4B94A9DDB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381" y="1757630"/>
            <a:ext cx="3937538" cy="393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048DDF-A8FD-D828-30C4-E91E330775BB}"/>
              </a:ext>
            </a:extLst>
          </p:cNvPr>
          <p:cNvSpPr/>
          <p:nvPr/>
        </p:nvSpPr>
        <p:spPr>
          <a:xfrm>
            <a:off x="12708610" y="7760522"/>
            <a:ext cx="1906292" cy="4380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7FAE6F-F2A4-3E08-DB5C-4889850A2EA4}"/>
              </a:ext>
            </a:extLst>
          </p:cNvPr>
          <p:cNvCxnSpPr/>
          <p:nvPr/>
        </p:nvCxnSpPr>
        <p:spPr>
          <a:xfrm>
            <a:off x="4184544" y="1398655"/>
            <a:ext cx="61731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7FB45-D2B8-8702-9507-3DD4E5D9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BE3DA2-B443-DCCB-C486-6D4CAAE2F714}"/>
              </a:ext>
            </a:extLst>
          </p:cNvPr>
          <p:cNvSpPr/>
          <p:nvPr/>
        </p:nvSpPr>
        <p:spPr>
          <a:xfrm>
            <a:off x="4479905" y="6779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Project Objectives</a:t>
            </a:r>
            <a:endParaRPr 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6DEFB6-1983-5A14-F437-31FA7D57E4D5}"/>
              </a:ext>
            </a:extLst>
          </p:cNvPr>
          <p:cNvSpPr/>
          <p:nvPr/>
        </p:nvSpPr>
        <p:spPr>
          <a:xfrm>
            <a:off x="174146" y="2813269"/>
            <a:ext cx="542153" cy="426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40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4000" dirty="0">
              <a:latin typeface="Times New Roman" panose="020206030504050203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B098A88-20AE-914F-6BC4-9C70FEA7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16" y="3274546"/>
            <a:ext cx="6407944" cy="304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65A177C-D0FC-2C7A-CF76-E5C3D02F1B52}"/>
              </a:ext>
            </a:extLst>
          </p:cNvPr>
          <p:cNvSpPr/>
          <p:nvPr/>
        </p:nvSpPr>
        <p:spPr>
          <a:xfrm>
            <a:off x="662574" y="2834150"/>
            <a:ext cx="7384917" cy="27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40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Create User-Friendly Platform</a:t>
            </a:r>
            <a:endParaRPr lang="en-US" sz="4000" dirty="0">
              <a:latin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007BD89-5F15-4503-1AF4-B6C53A4897C2}"/>
              </a:ext>
            </a:extLst>
          </p:cNvPr>
          <p:cNvSpPr/>
          <p:nvPr/>
        </p:nvSpPr>
        <p:spPr>
          <a:xfrm>
            <a:off x="416365" y="4646056"/>
            <a:ext cx="7571213" cy="1969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an intuitive interface that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requires minimal technical knowledge,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allowing students to focus on content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creation rather than technical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complexities.</a:t>
            </a:r>
            <a:endParaRPr lang="en-US" sz="3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3E7BA1-A51E-52D4-A428-33CF7F5B1AD2}"/>
              </a:ext>
            </a:extLst>
          </p:cNvPr>
          <p:cNvSpPr/>
          <p:nvPr/>
        </p:nvSpPr>
        <p:spPr>
          <a:xfrm>
            <a:off x="12584624" y="7609668"/>
            <a:ext cx="2014780" cy="5589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F593DC1-96D8-3A6F-6592-52C9CD19C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0344EB-D941-AC18-5054-C33D6DDF5226}"/>
              </a:ext>
            </a:extLst>
          </p:cNvPr>
          <p:cNvCxnSpPr>
            <a:cxnSpLocks/>
          </p:cNvCxnSpPr>
          <p:nvPr/>
        </p:nvCxnSpPr>
        <p:spPr>
          <a:xfrm>
            <a:off x="-108488" y="4138044"/>
            <a:ext cx="86209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468D4B-6B40-1BBB-28E1-2D62B39FB5F7}"/>
              </a:ext>
            </a:extLst>
          </p:cNvPr>
          <p:cNvCxnSpPr>
            <a:cxnSpLocks/>
          </p:cNvCxnSpPr>
          <p:nvPr/>
        </p:nvCxnSpPr>
        <p:spPr>
          <a:xfrm>
            <a:off x="8512431" y="1660563"/>
            <a:ext cx="0" cy="6508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1760E4-4F27-2198-0191-F566B2614362}"/>
              </a:ext>
            </a:extLst>
          </p:cNvPr>
          <p:cNvCxnSpPr>
            <a:cxnSpLocks/>
          </p:cNvCxnSpPr>
          <p:nvPr/>
        </p:nvCxnSpPr>
        <p:spPr>
          <a:xfrm>
            <a:off x="0" y="1660563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w to make a user friendly mobile app? – Website | Web Development – App  Development – SEO | Industrial Websites">
            <a:extLst>
              <a:ext uri="{FF2B5EF4-FFF2-40B4-BE49-F238E27FC236}">
                <a16:creationId xmlns:a16="http://schemas.microsoft.com/office/drawing/2014/main" id="{50DDED87-0BD3-7AB0-353A-292F5EF03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260" y="2674900"/>
            <a:ext cx="5526309" cy="436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65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E877-8483-C96E-FABB-025C177C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8DF68D-3735-2D9E-804C-B801F06EC89E}"/>
              </a:ext>
            </a:extLst>
          </p:cNvPr>
          <p:cNvSpPr/>
          <p:nvPr/>
        </p:nvSpPr>
        <p:spPr>
          <a:xfrm>
            <a:off x="4479905" y="6469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Project Objectives</a:t>
            </a:r>
            <a:endParaRPr lang="en-US" sz="5400" dirty="0"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AAAC3E-B9E9-758C-252B-1DA02F32B2E4}"/>
              </a:ext>
            </a:extLst>
          </p:cNvPr>
          <p:cNvSpPr/>
          <p:nvPr/>
        </p:nvSpPr>
        <p:spPr>
          <a:xfrm>
            <a:off x="12584624" y="7609668"/>
            <a:ext cx="2014780" cy="5589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E517AD3-A9DB-BC55-8DB3-0803936D0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33CC9A-2D6B-D155-9731-73F1A1FBB252}"/>
              </a:ext>
            </a:extLst>
          </p:cNvPr>
          <p:cNvCxnSpPr>
            <a:cxnSpLocks/>
          </p:cNvCxnSpPr>
          <p:nvPr/>
        </p:nvCxnSpPr>
        <p:spPr>
          <a:xfrm>
            <a:off x="6013342" y="4138044"/>
            <a:ext cx="86209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51AB7A-AFC7-96CF-7A96-251B6C522014}"/>
              </a:ext>
            </a:extLst>
          </p:cNvPr>
          <p:cNvCxnSpPr>
            <a:cxnSpLocks/>
          </p:cNvCxnSpPr>
          <p:nvPr/>
        </p:nvCxnSpPr>
        <p:spPr>
          <a:xfrm flipH="1">
            <a:off x="6013342" y="1660563"/>
            <a:ext cx="3863" cy="6677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4A76466-4FDE-200B-929C-FBECCF7664B3}"/>
              </a:ext>
            </a:extLst>
          </p:cNvPr>
          <p:cNvCxnSpPr>
            <a:cxnSpLocks/>
          </p:cNvCxnSpPr>
          <p:nvPr/>
        </p:nvCxnSpPr>
        <p:spPr>
          <a:xfrm>
            <a:off x="0" y="1660563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4">
            <a:extLst>
              <a:ext uri="{FF2B5EF4-FFF2-40B4-BE49-F238E27FC236}">
                <a16:creationId xmlns:a16="http://schemas.microsoft.com/office/drawing/2014/main" id="{7682C3D6-4461-02D3-4517-9BF70C5605EF}"/>
              </a:ext>
            </a:extLst>
          </p:cNvPr>
          <p:cNvSpPr/>
          <p:nvPr/>
        </p:nvSpPr>
        <p:spPr>
          <a:xfrm>
            <a:off x="6461952" y="2817075"/>
            <a:ext cx="589782" cy="38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40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4000" dirty="0">
              <a:latin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F132C44-F3F0-309E-CA2F-639534A625CB}"/>
              </a:ext>
            </a:extLst>
          </p:cNvPr>
          <p:cNvSpPr/>
          <p:nvPr/>
        </p:nvSpPr>
        <p:spPr>
          <a:xfrm>
            <a:off x="7250184" y="2833010"/>
            <a:ext cx="4257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40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Content Management System</a:t>
            </a:r>
            <a:endParaRPr lang="en-US" sz="4000" dirty="0">
              <a:latin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187D11F-36DC-9085-321B-5794FECD152E}"/>
              </a:ext>
            </a:extLst>
          </p:cNvPr>
          <p:cNvSpPr/>
          <p:nvPr/>
        </p:nvSpPr>
        <p:spPr>
          <a:xfrm>
            <a:off x="7376298" y="4544395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comprehensive tools for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writing, editing, and publishing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posts with rich text formatting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media integration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capabilities.</a:t>
            </a:r>
            <a:endParaRPr lang="en-US" sz="3200" dirty="0"/>
          </a:p>
        </p:txBody>
      </p:sp>
      <p:pic>
        <p:nvPicPr>
          <p:cNvPr id="1026" name="Picture 2" descr="Content management system - Free seo and web icons">
            <a:extLst>
              <a:ext uri="{FF2B5EF4-FFF2-40B4-BE49-F238E27FC236}">
                <a16:creationId xmlns:a16="http://schemas.microsoft.com/office/drawing/2014/main" id="{F43C947F-D11E-AA91-9A2E-5B5458A16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14" y="2560925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461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23E6-2C0A-9C21-DA3F-2D0ED15B7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51E6B4-23A0-6013-1FA0-8D512CE8FE1A}"/>
              </a:ext>
            </a:extLst>
          </p:cNvPr>
          <p:cNvSpPr/>
          <p:nvPr/>
        </p:nvSpPr>
        <p:spPr>
          <a:xfrm>
            <a:off x="4479905" y="6779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1DEEA4-4ED9-1143-116A-2169150A9D5B}"/>
              </a:ext>
            </a:extLst>
          </p:cNvPr>
          <p:cNvSpPr/>
          <p:nvPr/>
        </p:nvSpPr>
        <p:spPr>
          <a:xfrm>
            <a:off x="174146" y="2813269"/>
            <a:ext cx="542153" cy="426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40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4000" dirty="0">
              <a:latin typeface="Times New Roman" panose="020206030504050203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34F4E8D-336F-9B68-5DE3-23DDA696A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16" y="3274546"/>
            <a:ext cx="6407944" cy="304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32F8C51-B171-F19B-5D81-5FC8040EC00C}"/>
              </a:ext>
            </a:extLst>
          </p:cNvPr>
          <p:cNvSpPr/>
          <p:nvPr/>
        </p:nvSpPr>
        <p:spPr>
          <a:xfrm>
            <a:off x="928014" y="2803154"/>
            <a:ext cx="7384917" cy="27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Implement Organization Features</a:t>
            </a:r>
            <a:endParaRPr lang="en-US" sz="3200" dirty="0"/>
          </a:p>
          <a:p>
            <a:pPr marL="0" indent="0" algn="l">
              <a:lnSpc>
                <a:spcPts val="2750"/>
              </a:lnSpc>
              <a:buNone/>
            </a:pPr>
            <a:endParaRPr lang="en-US" sz="3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DFBBEA0-2A3F-E3F2-85EE-9FBDAFAE6015}"/>
              </a:ext>
            </a:extLst>
          </p:cNvPr>
          <p:cNvSpPr/>
          <p:nvPr/>
        </p:nvSpPr>
        <p:spPr>
          <a:xfrm>
            <a:off x="384958" y="4733553"/>
            <a:ext cx="7634028" cy="181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3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 categorization systems and</a:t>
            </a:r>
          </a:p>
          <a:p>
            <a:pPr algn="ctr">
              <a:lnSpc>
                <a:spcPts val="2850"/>
              </a:lnSpc>
            </a:pPr>
            <a:endParaRPr lang="en-US" sz="36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US" sz="3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tagging functionality to help users</a:t>
            </a:r>
          </a:p>
          <a:p>
            <a:pPr algn="ctr">
              <a:lnSpc>
                <a:spcPts val="2850"/>
              </a:lnSpc>
            </a:pPr>
            <a:endParaRPr lang="en-US" sz="36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US" sz="3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organize and discover content</a:t>
            </a:r>
          </a:p>
          <a:p>
            <a:pPr algn="ctr">
              <a:lnSpc>
                <a:spcPts val="2850"/>
              </a:lnSpc>
            </a:pPr>
            <a:endParaRPr lang="en-US" sz="36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US" sz="3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effectively</a:t>
            </a:r>
            <a:endParaRPr lang="en-US" sz="3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DC7865-6855-FB49-2289-38ABB0127F2F}"/>
              </a:ext>
            </a:extLst>
          </p:cNvPr>
          <p:cNvSpPr/>
          <p:nvPr/>
        </p:nvSpPr>
        <p:spPr>
          <a:xfrm>
            <a:off x="12584624" y="7609668"/>
            <a:ext cx="2014780" cy="5589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28FB492-58A4-442E-38E7-F7BA2B8BD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CE520FD-AC36-ACC3-B949-94A5122A9BAC}"/>
              </a:ext>
            </a:extLst>
          </p:cNvPr>
          <p:cNvCxnSpPr>
            <a:cxnSpLocks/>
          </p:cNvCxnSpPr>
          <p:nvPr/>
        </p:nvCxnSpPr>
        <p:spPr>
          <a:xfrm>
            <a:off x="-108488" y="4138044"/>
            <a:ext cx="86209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B945F6-CB58-5794-5CB5-00889D9E5CD1}"/>
              </a:ext>
            </a:extLst>
          </p:cNvPr>
          <p:cNvCxnSpPr>
            <a:cxnSpLocks/>
          </p:cNvCxnSpPr>
          <p:nvPr/>
        </p:nvCxnSpPr>
        <p:spPr>
          <a:xfrm>
            <a:off x="8512431" y="1660563"/>
            <a:ext cx="0" cy="6508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7CBBD8-4EE2-FBCA-3CE1-8E4D152F8514}"/>
              </a:ext>
            </a:extLst>
          </p:cNvPr>
          <p:cNvCxnSpPr>
            <a:cxnSpLocks/>
          </p:cNvCxnSpPr>
          <p:nvPr/>
        </p:nvCxnSpPr>
        <p:spPr>
          <a:xfrm>
            <a:off x="0" y="1660563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Organisation Development: Concept, Features, Objectives, and Roles -  GeeksforGeeks">
            <a:extLst>
              <a:ext uri="{FF2B5EF4-FFF2-40B4-BE49-F238E27FC236}">
                <a16:creationId xmlns:a16="http://schemas.microsoft.com/office/drawing/2014/main" id="{376E7463-A0D9-C336-4F3C-41A4A1AB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9486" y="2813269"/>
            <a:ext cx="5958789" cy="431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09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D76E-2934-8042-90D1-04EA762B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B429FF-03CE-80D7-EC05-EC586596C1F5}"/>
              </a:ext>
            </a:extLst>
          </p:cNvPr>
          <p:cNvSpPr/>
          <p:nvPr/>
        </p:nvSpPr>
        <p:spPr>
          <a:xfrm>
            <a:off x="4479905" y="5149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Project Objectives</a:t>
            </a:r>
            <a:endParaRPr lang="en-US" sz="4800" dirty="0"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CBCA63-DE27-DBB9-6591-DA9D95D95C91}"/>
              </a:ext>
            </a:extLst>
          </p:cNvPr>
          <p:cNvSpPr/>
          <p:nvPr/>
        </p:nvSpPr>
        <p:spPr>
          <a:xfrm>
            <a:off x="12584624" y="7609668"/>
            <a:ext cx="2014780" cy="5589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F65451-4564-6123-430F-8A854C464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172B8F-8CA9-0C02-16E0-F21C6F9E3028}"/>
              </a:ext>
            </a:extLst>
          </p:cNvPr>
          <p:cNvCxnSpPr>
            <a:cxnSpLocks/>
          </p:cNvCxnSpPr>
          <p:nvPr/>
        </p:nvCxnSpPr>
        <p:spPr>
          <a:xfrm>
            <a:off x="6013342" y="4138044"/>
            <a:ext cx="86209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DB744D0-42D4-43CA-8F44-9471CC448788}"/>
              </a:ext>
            </a:extLst>
          </p:cNvPr>
          <p:cNvCxnSpPr>
            <a:cxnSpLocks/>
          </p:cNvCxnSpPr>
          <p:nvPr/>
        </p:nvCxnSpPr>
        <p:spPr>
          <a:xfrm flipH="1">
            <a:off x="6013342" y="1660563"/>
            <a:ext cx="3863" cy="6677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1F0A539-ADF8-FF53-5A22-36E76BEBB12F}"/>
              </a:ext>
            </a:extLst>
          </p:cNvPr>
          <p:cNvCxnSpPr>
            <a:cxnSpLocks/>
          </p:cNvCxnSpPr>
          <p:nvPr/>
        </p:nvCxnSpPr>
        <p:spPr>
          <a:xfrm>
            <a:off x="0" y="1660563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4">
            <a:extLst>
              <a:ext uri="{FF2B5EF4-FFF2-40B4-BE49-F238E27FC236}">
                <a16:creationId xmlns:a16="http://schemas.microsoft.com/office/drawing/2014/main" id="{005FB5B1-76A0-B379-477D-24F59C6CE7EA}"/>
              </a:ext>
            </a:extLst>
          </p:cNvPr>
          <p:cNvSpPr/>
          <p:nvPr/>
        </p:nvSpPr>
        <p:spPr>
          <a:xfrm>
            <a:off x="6461952" y="2817075"/>
            <a:ext cx="589782" cy="38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40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4000" dirty="0">
              <a:latin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FC58EF6-E7C6-E5C1-4574-4D255909F1C4}"/>
              </a:ext>
            </a:extLst>
          </p:cNvPr>
          <p:cNvSpPr/>
          <p:nvPr/>
        </p:nvSpPr>
        <p:spPr>
          <a:xfrm>
            <a:off x="7250184" y="2833010"/>
            <a:ext cx="4257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44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Foster Community Engagement</a:t>
            </a:r>
            <a:endParaRPr lang="en-US" sz="4400" dirty="0">
              <a:latin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611946-42A3-BFB6-1352-F818ECF348BC}"/>
              </a:ext>
            </a:extLst>
          </p:cNvPr>
          <p:cNvSpPr/>
          <p:nvPr/>
        </p:nvSpPr>
        <p:spPr>
          <a:xfrm>
            <a:off x="7250184" y="4536198"/>
            <a:ext cx="6408063" cy="203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3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 commenting systems</a:t>
            </a:r>
          </a:p>
          <a:p>
            <a:pPr algn="ctr">
              <a:lnSpc>
                <a:spcPts val="2850"/>
              </a:lnSpc>
            </a:pPr>
            <a:endParaRPr lang="en-US" sz="36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US" sz="3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like features to</a:t>
            </a:r>
          </a:p>
          <a:p>
            <a:pPr algn="ctr">
              <a:lnSpc>
                <a:spcPts val="2850"/>
              </a:lnSpc>
            </a:pPr>
            <a:endParaRPr lang="en-US" sz="36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US" sz="3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encourage interaction and</a:t>
            </a:r>
          </a:p>
          <a:p>
            <a:pPr algn="ctr">
              <a:lnSpc>
                <a:spcPts val="2850"/>
              </a:lnSpc>
            </a:pPr>
            <a:endParaRPr lang="en-US" sz="36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US" sz="3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 a supportive academic</a:t>
            </a:r>
          </a:p>
          <a:p>
            <a:pPr algn="ctr">
              <a:lnSpc>
                <a:spcPts val="2850"/>
              </a:lnSpc>
            </a:pPr>
            <a:endParaRPr lang="en-US" sz="36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US" sz="3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community.</a:t>
            </a:r>
            <a:endParaRPr lang="en-US" sz="3600" dirty="0"/>
          </a:p>
        </p:txBody>
      </p:sp>
      <p:pic>
        <p:nvPicPr>
          <p:cNvPr id="3076" name="Picture 4" descr="Community Engagement Red Gradient Concept Icon Stock Vector - Illustration  of gradient, interaction: 192711439">
            <a:extLst>
              <a:ext uri="{FF2B5EF4-FFF2-40B4-BE49-F238E27FC236}">
                <a16:creationId xmlns:a16="http://schemas.microsoft.com/office/drawing/2014/main" id="{602987DB-188F-D6BA-D58D-C2AA535FF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80" y="2245019"/>
            <a:ext cx="5306582" cy="530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486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21400" y="344490"/>
            <a:ext cx="3522659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8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Project Scope</a:t>
            </a:r>
            <a:endParaRPr 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87919" y="1923653"/>
            <a:ext cx="3334464" cy="416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Features Included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87919" y="2562781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registration and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7919" y="2996168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Rich text editor for post creation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87919" y="3429556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 and tag management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87919" y="3862943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 and like functionality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87919" y="4296331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search capabilities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87919" y="4729718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Responsive design for mobile devices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7919" y="5369640"/>
            <a:ext cx="3424476" cy="416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Current Limitations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87919" y="6008767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design templates only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87919" y="6442155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to essential blogging features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87919" y="6875542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designed for enterprise-level usage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87919" y="7308930"/>
            <a:ext cx="7627739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administrator model</a:t>
            </a:r>
            <a:endParaRPr lang="en-US" sz="2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013" y="1418352"/>
            <a:ext cx="5817433" cy="581743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D900C20-89C1-E085-08C0-9D520E055328}"/>
              </a:ext>
            </a:extLst>
          </p:cNvPr>
          <p:cNvSpPr/>
          <p:nvPr/>
        </p:nvSpPr>
        <p:spPr>
          <a:xfrm>
            <a:off x="12631120" y="7509590"/>
            <a:ext cx="1952786" cy="6890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941499-BD51-73FD-7F59-8E5175F9E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05DA12-A033-E374-EE8A-CD2410D6D549}"/>
              </a:ext>
            </a:extLst>
          </p:cNvPr>
          <p:cNvCxnSpPr/>
          <p:nvPr/>
        </p:nvCxnSpPr>
        <p:spPr>
          <a:xfrm>
            <a:off x="4977348" y="1039220"/>
            <a:ext cx="3949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201" y="552153"/>
            <a:ext cx="95098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5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Literature Review &amp; Background</a:t>
            </a:r>
            <a:endParaRPr lang="en-US" sz="4500" dirty="0">
              <a:latin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794072"/>
            <a:ext cx="4196358" cy="2819519"/>
          </a:xfrm>
          <a:prstGeom prst="roundRect">
            <a:avLst>
              <a:gd name="adj" fmla="val 1207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74351" y="20185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8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WordPress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084" y="2541785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powerful and feature-rich, WordPress can be overwhelming for beginners with its extensive plugin ecosystem and complex customization options.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1794072"/>
            <a:ext cx="4196358" cy="2819519"/>
          </a:xfrm>
          <a:prstGeom prst="roundRect">
            <a:avLst>
              <a:gd name="adj" fmla="val 1207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522" y="20244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8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Medium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4256" y="2541785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Excellent for reading and writing but lacks customization and community features needed for small academic groups.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1794072"/>
            <a:ext cx="4196358" cy="2819519"/>
          </a:xfrm>
          <a:prstGeom prst="roundRect">
            <a:avLst>
              <a:gd name="adj" fmla="val 1207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20694" y="20858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8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Blogger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97427" y="2541785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but dated interface with limited modern features and poor mobile optimization for today's users.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160995" y="5423179"/>
            <a:ext cx="63082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What Makes Our Platform Different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62394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BlogSpace combines simplicity with essential features, specifically designed for student needs. It offers the perfect balance between functionality and ease of use, without overwhelming new users with unnecessary complexity.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AD23A-0765-203D-B273-CF40DF158993}"/>
              </a:ext>
            </a:extLst>
          </p:cNvPr>
          <p:cNvSpPr/>
          <p:nvPr/>
        </p:nvSpPr>
        <p:spPr>
          <a:xfrm>
            <a:off x="12367647" y="7516678"/>
            <a:ext cx="2154265" cy="6104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8FB1A7-BC30-733B-B744-4AD1ED0D3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29028" y="695980"/>
            <a:ext cx="63723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System Requirements</a:t>
            </a:r>
            <a:endParaRPr lang="en-US" sz="5400" dirty="0">
              <a:latin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78295" y="2357199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Hardware Requirements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8295" y="343459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 4GB RAM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8295" y="387679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2GB available storage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8295" y="431899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Internet connectivity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8295" y="476119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 web browser support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071144" y="2357199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Software Requirements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071144" y="343459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server 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071144" y="387679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ctr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CSS3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019848" y="431899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071144" y="476119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HTML5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573647" y="6352901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C3C2F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461" y="6704612"/>
            <a:ext cx="283488" cy="2268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10763" y="6636389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platform is designed to run efficiently on standard college computer lab specifications and personal laptops.</a:t>
            </a:r>
            <a:endParaRPr lang="en-US" sz="1750" dirty="0"/>
          </a:p>
        </p:txBody>
      </p:sp>
      <p:pic>
        <p:nvPicPr>
          <p:cNvPr id="1026" name="Picture 2" descr="Requirements - Free computer icons">
            <a:extLst>
              <a:ext uri="{FF2B5EF4-FFF2-40B4-BE49-F238E27FC236}">
                <a16:creationId xmlns:a16="http://schemas.microsoft.com/office/drawing/2014/main" id="{E6226774-B725-93B0-2860-931761D15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898" y="1769454"/>
            <a:ext cx="4214680" cy="421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6FA208-67BA-FD59-75C8-71F1B071C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58510D1-CD5F-E5AC-CF7B-EA43B5CB9051}"/>
              </a:ext>
            </a:extLst>
          </p:cNvPr>
          <p:cNvSpPr/>
          <p:nvPr/>
        </p:nvSpPr>
        <p:spPr>
          <a:xfrm>
            <a:off x="12770603" y="7664116"/>
            <a:ext cx="1859797" cy="549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358D6D-E5FA-9212-9C89-07176C220941}"/>
              </a:ext>
            </a:extLst>
          </p:cNvPr>
          <p:cNvCxnSpPr/>
          <p:nvPr/>
        </p:nvCxnSpPr>
        <p:spPr>
          <a:xfrm>
            <a:off x="4233273" y="1534332"/>
            <a:ext cx="61906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AC1C-F1CF-D84D-E16F-957D9093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F132B6-F90C-BB12-ECE3-3938438DF7BF}"/>
              </a:ext>
            </a:extLst>
          </p:cNvPr>
          <p:cNvSpPr/>
          <p:nvPr/>
        </p:nvSpPr>
        <p:spPr>
          <a:xfrm>
            <a:off x="1888217" y="554711"/>
            <a:ext cx="11285487" cy="110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Technology Stack &amp; Implementation</a:t>
            </a:r>
            <a:endParaRPr lang="en-US" sz="5400" dirty="0">
              <a:latin typeface="Times New Roman" panose="02020603050405020304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DE43B3D-34E2-01AD-2840-70D75F030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799" y="2723153"/>
            <a:ext cx="4119319" cy="411931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24ABC8B-B91D-A771-DA30-93B70BCD03E0}"/>
              </a:ext>
            </a:extLst>
          </p:cNvPr>
          <p:cNvSpPr/>
          <p:nvPr/>
        </p:nvSpPr>
        <p:spPr>
          <a:xfrm>
            <a:off x="1151958" y="2236131"/>
            <a:ext cx="33503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Frontend Technologies</a:t>
            </a:r>
            <a:endParaRPr lang="en-US" sz="4000" dirty="0">
              <a:latin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9EE7149-1807-9374-906B-B131616084AB}"/>
              </a:ext>
            </a:extLst>
          </p:cNvPr>
          <p:cNvSpPr/>
          <p:nvPr/>
        </p:nvSpPr>
        <p:spPr>
          <a:xfrm>
            <a:off x="902278" y="3784923"/>
            <a:ext cx="5823986" cy="333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Open Sans" pitchFamily="34" charset="-120"/>
              </a:rPr>
              <a:t>HTML, CSS, JavaScript create a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Times New Roman" panose="02020603050405020304" pitchFamily="18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Open Sans" pitchFamily="34" charset="-120"/>
              </a:rPr>
              <a:t>responsive, interactive user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Times New Roman" panose="02020603050405020304" pitchFamily="18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Open Sans" pitchFamily="34" charset="-120"/>
              </a:rPr>
              <a:t> interface. Ensures consistent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Times New Roman" panose="02020603050405020304" pitchFamily="18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Open Sans" pitchFamily="34" charset="-120"/>
              </a:rPr>
              <a:t> styling and mobile compatibility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Times New Roman" panose="02020603050405020304" pitchFamily="18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Open Sans" pitchFamily="34" charset="-120"/>
              </a:rPr>
              <a:t> across all devices.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D8CC53-0DD3-EC4A-F5C7-06D5563A3B78}"/>
              </a:ext>
            </a:extLst>
          </p:cNvPr>
          <p:cNvSpPr/>
          <p:nvPr/>
        </p:nvSpPr>
        <p:spPr>
          <a:xfrm>
            <a:off x="12482234" y="7609668"/>
            <a:ext cx="2117170" cy="5889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90C818-2B77-9EE2-195E-B353C1F2B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B3ECD0-3454-1E30-4881-03979526CE25}"/>
              </a:ext>
            </a:extLst>
          </p:cNvPr>
          <p:cNvCxnSpPr/>
          <p:nvPr/>
        </p:nvCxnSpPr>
        <p:spPr>
          <a:xfrm>
            <a:off x="0" y="1660563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AEE547-781E-CECB-53B9-982C96627C66}"/>
              </a:ext>
            </a:extLst>
          </p:cNvPr>
          <p:cNvCxnSpPr/>
          <p:nvPr/>
        </p:nvCxnSpPr>
        <p:spPr>
          <a:xfrm>
            <a:off x="9004515" y="1660563"/>
            <a:ext cx="0" cy="6569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12D936-85C4-F0C8-441E-196028205D37}"/>
              </a:ext>
            </a:extLst>
          </p:cNvPr>
          <p:cNvCxnSpPr/>
          <p:nvPr/>
        </p:nvCxnSpPr>
        <p:spPr>
          <a:xfrm flipH="1">
            <a:off x="0" y="3130658"/>
            <a:ext cx="90045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178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7D36-6ACB-78B1-08C8-081BB02C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EB293F-1A74-4E8D-6A70-2B34702D91F1}"/>
              </a:ext>
            </a:extLst>
          </p:cNvPr>
          <p:cNvSpPr/>
          <p:nvPr/>
        </p:nvSpPr>
        <p:spPr>
          <a:xfrm>
            <a:off x="1888217" y="554711"/>
            <a:ext cx="11285487" cy="110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Technology Stack &amp; Implementation</a:t>
            </a:r>
            <a:endParaRPr lang="en-US" sz="54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2DD21B-495B-0878-F3D8-801B59AB853C}"/>
              </a:ext>
            </a:extLst>
          </p:cNvPr>
          <p:cNvSpPr/>
          <p:nvPr/>
        </p:nvSpPr>
        <p:spPr>
          <a:xfrm>
            <a:off x="12482234" y="7609668"/>
            <a:ext cx="2117170" cy="5889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3ADDE0-A793-9147-4A7B-0B1CF5663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D2F319-9ED8-34D3-0E42-898FEA159A7D}"/>
              </a:ext>
            </a:extLst>
          </p:cNvPr>
          <p:cNvCxnSpPr/>
          <p:nvPr/>
        </p:nvCxnSpPr>
        <p:spPr>
          <a:xfrm>
            <a:off x="0" y="1660563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A72079-BD67-928A-27EF-DDAE7AD58E8C}"/>
              </a:ext>
            </a:extLst>
          </p:cNvPr>
          <p:cNvCxnSpPr/>
          <p:nvPr/>
        </p:nvCxnSpPr>
        <p:spPr>
          <a:xfrm>
            <a:off x="5641377" y="1660563"/>
            <a:ext cx="0" cy="6569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8F1D13-58B2-792F-0962-2159DBC3DFB0}"/>
              </a:ext>
            </a:extLst>
          </p:cNvPr>
          <p:cNvCxnSpPr/>
          <p:nvPr/>
        </p:nvCxnSpPr>
        <p:spPr>
          <a:xfrm flipH="1">
            <a:off x="5641376" y="3130658"/>
            <a:ext cx="90045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67CFD2EE-2F31-A617-F03F-592F8FC33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03" y="3130658"/>
            <a:ext cx="3333971" cy="3333971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FB86D832-75E0-791B-7BE7-FF43BFB89D64}"/>
              </a:ext>
            </a:extLst>
          </p:cNvPr>
          <p:cNvSpPr/>
          <p:nvPr/>
        </p:nvSpPr>
        <p:spPr>
          <a:xfrm>
            <a:off x="6834123" y="2356293"/>
            <a:ext cx="32973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Backend Development</a:t>
            </a:r>
            <a:endParaRPr lang="en-US" sz="4400" dirty="0">
              <a:latin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FBCFC84-90D1-A138-277E-8FBCE52DD59C}"/>
              </a:ext>
            </a:extLst>
          </p:cNvPr>
          <p:cNvSpPr/>
          <p:nvPr/>
        </p:nvSpPr>
        <p:spPr>
          <a:xfrm>
            <a:off x="7315200" y="4063338"/>
            <a:ext cx="6072733" cy="3233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PHP handles server-side logic,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user authentication, and data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processing. Runs on Local data,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posts, comments, and platform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metadata securely.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15970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2E92-864F-3A9E-9908-CD78FFCB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1B623A-27C8-0520-87FE-B12BE2FE7058}"/>
              </a:ext>
            </a:extLst>
          </p:cNvPr>
          <p:cNvSpPr/>
          <p:nvPr/>
        </p:nvSpPr>
        <p:spPr>
          <a:xfrm>
            <a:off x="1888217" y="554711"/>
            <a:ext cx="11285487" cy="110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Technology Stack &amp; Implementation</a:t>
            </a:r>
            <a:endParaRPr lang="en-US" sz="54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661678-E01F-2910-3BA1-D30F27D2A17F}"/>
              </a:ext>
            </a:extLst>
          </p:cNvPr>
          <p:cNvSpPr/>
          <p:nvPr/>
        </p:nvSpPr>
        <p:spPr>
          <a:xfrm>
            <a:off x="12482234" y="7609668"/>
            <a:ext cx="2117170" cy="5889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6C93A1-4166-3760-A49F-13C6F8B7F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13D2AB-CAF6-4567-6C46-A90FB3258013}"/>
              </a:ext>
            </a:extLst>
          </p:cNvPr>
          <p:cNvCxnSpPr/>
          <p:nvPr/>
        </p:nvCxnSpPr>
        <p:spPr>
          <a:xfrm>
            <a:off x="0" y="1660563"/>
            <a:ext cx="1463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3DBDC9-6992-CFF6-6E95-B1B96958A441}"/>
              </a:ext>
            </a:extLst>
          </p:cNvPr>
          <p:cNvCxnSpPr/>
          <p:nvPr/>
        </p:nvCxnSpPr>
        <p:spPr>
          <a:xfrm>
            <a:off x="9004515" y="1660563"/>
            <a:ext cx="0" cy="6569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EEE76C-5EDD-485D-C6B8-E465187D04C5}"/>
              </a:ext>
            </a:extLst>
          </p:cNvPr>
          <p:cNvCxnSpPr/>
          <p:nvPr/>
        </p:nvCxnSpPr>
        <p:spPr>
          <a:xfrm flipH="1">
            <a:off x="0" y="3130658"/>
            <a:ext cx="90045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24B4A86D-C4E0-BAD5-774D-B64F30665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796" y="2766415"/>
            <a:ext cx="4130330" cy="4130330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05AC17F9-F6B2-FCE0-05C1-2D709D57E005}"/>
              </a:ext>
            </a:extLst>
          </p:cNvPr>
          <p:cNvSpPr/>
          <p:nvPr/>
        </p:nvSpPr>
        <p:spPr>
          <a:xfrm>
            <a:off x="1667022" y="23523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Security Features</a:t>
            </a:r>
            <a:endParaRPr lang="en-US" sz="4400" dirty="0">
              <a:latin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EAE43D-5968-D613-562A-9C07D3080019}"/>
              </a:ext>
            </a:extLst>
          </p:cNvPr>
          <p:cNvSpPr/>
          <p:nvPr/>
        </p:nvSpPr>
        <p:spPr>
          <a:xfrm>
            <a:off x="1122289" y="4107060"/>
            <a:ext cx="6759935" cy="333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validation, password hashing,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SQL injection  protection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ensure platform security.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 management and 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protection safeguard user data.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15191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3225" y="567755"/>
            <a:ext cx="82750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8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Key Features Demonstration</a:t>
            </a:r>
            <a:endParaRPr lang="en-US" sz="4800" dirty="0">
              <a:latin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128" y="4740931"/>
            <a:ext cx="4832707" cy="312086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261" y="1715918"/>
            <a:ext cx="4692575" cy="3120747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506712" y="18776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8" name="Text 2"/>
          <p:cNvSpPr/>
          <p:nvPr/>
        </p:nvSpPr>
        <p:spPr>
          <a:xfrm>
            <a:off x="2243828" y="1955498"/>
            <a:ext cx="29289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Intuitive Post Editor</a:t>
            </a:r>
            <a:endParaRPr 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2243828" y="2445916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Rich text formatting with real-time preview functionality</a:t>
            </a:r>
            <a:endParaRPr lang="en-US" sz="1750" dirty="0"/>
          </a:p>
        </p:txBody>
      </p:sp>
      <p:sp>
        <p:nvSpPr>
          <p:cNvPr id="10" name="Shape 4"/>
          <p:cNvSpPr/>
          <p:nvPr/>
        </p:nvSpPr>
        <p:spPr>
          <a:xfrm>
            <a:off x="1469807" y="395440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1" name="Text 5"/>
          <p:cNvSpPr/>
          <p:nvPr/>
        </p:nvSpPr>
        <p:spPr>
          <a:xfrm>
            <a:off x="2206922" y="4032271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Clean Reading Experience</a:t>
            </a:r>
            <a:endParaRPr 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206922" y="487701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Optimized typography and layout for enhanced readability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1510392" y="64186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4" name="Text 8"/>
          <p:cNvSpPr/>
          <p:nvPr/>
        </p:nvSpPr>
        <p:spPr>
          <a:xfrm>
            <a:off x="2278504" y="6496503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Interactive Community</a:t>
            </a:r>
            <a:endParaRPr 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2278504" y="718626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commenting and engagement features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9BBC15-FE0D-A7C7-FDBD-AD0623C4A4AB}"/>
              </a:ext>
            </a:extLst>
          </p:cNvPr>
          <p:cNvSpPr/>
          <p:nvPr/>
        </p:nvSpPr>
        <p:spPr>
          <a:xfrm>
            <a:off x="12693112" y="7671661"/>
            <a:ext cx="1921790" cy="5424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3DC58B9-6FBF-1B19-CDE4-A87E9EC2F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C3D652-B08B-6D33-0380-C4C114D1E3B1}"/>
              </a:ext>
            </a:extLst>
          </p:cNvPr>
          <p:cNvCxnSpPr/>
          <p:nvPr/>
        </p:nvCxnSpPr>
        <p:spPr>
          <a:xfrm>
            <a:off x="0" y="1660563"/>
            <a:ext cx="146149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A5F5C9A-BDE5-8CFC-2971-2F68E411226E}"/>
              </a:ext>
            </a:extLst>
          </p:cNvPr>
          <p:cNvCxnSpPr/>
          <p:nvPr/>
        </p:nvCxnSpPr>
        <p:spPr>
          <a:xfrm>
            <a:off x="6710766" y="1660563"/>
            <a:ext cx="0" cy="6569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949030-7712-A023-E24F-FB1028BCE817}"/>
              </a:ext>
            </a:extLst>
          </p:cNvPr>
          <p:cNvCxnSpPr/>
          <p:nvPr/>
        </p:nvCxnSpPr>
        <p:spPr>
          <a:xfrm>
            <a:off x="1038386" y="3611105"/>
            <a:ext cx="45900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717BA7-C4D6-1260-9985-F3EF12944CA1}"/>
              </a:ext>
            </a:extLst>
          </p:cNvPr>
          <p:cNvCxnSpPr/>
          <p:nvPr/>
        </p:nvCxnSpPr>
        <p:spPr>
          <a:xfrm>
            <a:off x="1066800" y="6103754"/>
            <a:ext cx="45900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96421" y="342234"/>
            <a:ext cx="9490911" cy="234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60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Future </a:t>
            </a:r>
          </a:p>
          <a:p>
            <a:pPr marL="0" indent="0" algn="ctr">
              <a:lnSpc>
                <a:spcPts val="4500"/>
              </a:lnSpc>
              <a:buNone/>
            </a:pPr>
            <a:endParaRPr lang="en-US" sz="6000" dirty="0">
              <a:solidFill>
                <a:srgbClr val="403CCF"/>
              </a:solidFill>
              <a:latin typeface="Times New Roman" panose="02020603050405020304" pitchFamily="18" charset="0"/>
              <a:ea typeface="Libre Baskerville" pitchFamily="34" charset="-122"/>
              <a:cs typeface="Libre Baskerville" pitchFamily="34" charset="-120"/>
            </a:endParaRPr>
          </a:p>
          <a:p>
            <a:pPr marL="0" indent="0" algn="ctr">
              <a:lnSpc>
                <a:spcPts val="4500"/>
              </a:lnSpc>
              <a:buNone/>
            </a:pPr>
            <a:r>
              <a:rPr lang="en-US" sz="6000" dirty="0">
                <a:solidFill>
                  <a:srgbClr val="403CCF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Enhancements</a:t>
            </a:r>
            <a:endParaRPr lang="en-US" sz="6000" dirty="0">
              <a:latin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31" y="2933754"/>
            <a:ext cx="917019" cy="11004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3907" y="3117110"/>
            <a:ext cx="2292787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Current Success</a:t>
            </a:r>
            <a:endParaRPr 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323907" y="3513708"/>
            <a:ext cx="675965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Functional blogging platform with essential features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31" y="4468193"/>
            <a:ext cx="917019" cy="11004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3907" y="4651549"/>
            <a:ext cx="2598182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Future Enhancements</a:t>
            </a:r>
            <a:endParaRPr 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323907" y="5048146"/>
            <a:ext cx="675965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themes, multimedia support, and collaboration tools</a:t>
            </a: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31" y="5987134"/>
            <a:ext cx="917019" cy="11004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3907" y="6170490"/>
            <a:ext cx="2292787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Libre Baskerville" pitchFamily="34" charset="-120"/>
              </a:rPr>
              <a:t>Scalability</a:t>
            </a:r>
            <a:endParaRPr 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323907" y="6567087"/>
            <a:ext cx="675965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Potential for campus-wide deployment and feature expansion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6128385" y="7138988"/>
            <a:ext cx="7860030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94A1D7-562F-5F2E-20BF-7D1F73914C2B}"/>
              </a:ext>
            </a:extLst>
          </p:cNvPr>
          <p:cNvSpPr/>
          <p:nvPr/>
        </p:nvSpPr>
        <p:spPr>
          <a:xfrm>
            <a:off x="12584624" y="7725966"/>
            <a:ext cx="2014780" cy="4333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698E68-2CCC-FAB1-C616-D81E740D4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4A4F2A-ABD0-BCD1-BB87-C0488BBACA40}"/>
              </a:ext>
            </a:extLst>
          </p:cNvPr>
          <p:cNvCxnSpPr>
            <a:cxnSpLocks/>
          </p:cNvCxnSpPr>
          <p:nvPr/>
        </p:nvCxnSpPr>
        <p:spPr>
          <a:xfrm>
            <a:off x="8446576" y="2278246"/>
            <a:ext cx="0" cy="5904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30EAA44-AF6F-E1E9-DF3E-4D42ED393D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9279" y="2376899"/>
            <a:ext cx="4907304" cy="4907304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5B47D9-4B09-19C1-431D-BC5BD31F318F}"/>
              </a:ext>
            </a:extLst>
          </p:cNvPr>
          <p:cNvCxnSpPr/>
          <p:nvPr/>
        </p:nvCxnSpPr>
        <p:spPr>
          <a:xfrm>
            <a:off x="-52442" y="2278246"/>
            <a:ext cx="147138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4736F-E040-183F-4CB0-AC8682B7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9">
            <a:extLst>
              <a:ext uri="{FF2B5EF4-FFF2-40B4-BE49-F238E27FC236}">
                <a16:creationId xmlns:a16="http://schemas.microsoft.com/office/drawing/2014/main" id="{3894731A-0627-D243-D695-BA8BAA2CCC08}"/>
              </a:ext>
            </a:extLst>
          </p:cNvPr>
          <p:cNvSpPr/>
          <p:nvPr/>
        </p:nvSpPr>
        <p:spPr>
          <a:xfrm>
            <a:off x="6128385" y="7138988"/>
            <a:ext cx="7860030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68E6D3-28B8-E831-2E8C-B14F8B117DCE}"/>
              </a:ext>
            </a:extLst>
          </p:cNvPr>
          <p:cNvSpPr/>
          <p:nvPr/>
        </p:nvSpPr>
        <p:spPr>
          <a:xfrm>
            <a:off x="12584624" y="7725966"/>
            <a:ext cx="2014780" cy="4333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4CA6DC-3B26-06D3-EF5B-0CA87D195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" y="150415"/>
            <a:ext cx="1510148" cy="151014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D076B27-75B7-A47A-BBCF-319FF7A509DC}"/>
              </a:ext>
            </a:extLst>
          </p:cNvPr>
          <p:cNvCxnSpPr/>
          <p:nvPr/>
        </p:nvCxnSpPr>
        <p:spPr>
          <a:xfrm>
            <a:off x="-52442" y="3084159"/>
            <a:ext cx="147138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6" name="Picture 6" descr="11+ Thousand Conclusion Word Royalty-Free Images, Stock Photos &amp; Pictures |  Shutterstock">
            <a:extLst>
              <a:ext uri="{FF2B5EF4-FFF2-40B4-BE49-F238E27FC236}">
                <a16:creationId xmlns:a16="http://schemas.microsoft.com/office/drawing/2014/main" id="{67E68B83-68A0-8C3D-0FC9-1DF844B511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12"/>
          <a:stretch>
            <a:fillRect/>
          </a:stretch>
        </p:blipFill>
        <p:spPr bwMode="auto">
          <a:xfrm>
            <a:off x="2732478" y="34098"/>
            <a:ext cx="9144000" cy="299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6B2A52-999E-633B-DF23-96699610F397}"/>
              </a:ext>
            </a:extLst>
          </p:cNvPr>
          <p:cNvSpPr txBox="1"/>
          <p:nvPr/>
        </p:nvSpPr>
        <p:spPr>
          <a:xfrm>
            <a:off x="322929" y="3902537"/>
            <a:ext cx="666680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Our online blog platform provides a simple and user-friendly space for sharing ideas and experiences.</a:t>
            </a:r>
          </a:p>
          <a:p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It allows users to create, edit, and explore blogs easily with a clean interface.</a:t>
            </a:r>
          </a:p>
          <a:p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Basic features like authentication, comments, and dark mode enhance usability.</a:t>
            </a:r>
          </a:p>
          <a:p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FB8B5B-E135-320B-979B-EFB5181BEE8F}"/>
              </a:ext>
            </a:extLst>
          </p:cNvPr>
          <p:cNvCxnSpPr>
            <a:cxnSpLocks/>
          </p:cNvCxnSpPr>
          <p:nvPr/>
        </p:nvCxnSpPr>
        <p:spPr>
          <a:xfrm>
            <a:off x="7304478" y="3091582"/>
            <a:ext cx="10722" cy="5138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9AF924-A94F-D078-07E8-46C29A45A3A0}"/>
              </a:ext>
            </a:extLst>
          </p:cNvPr>
          <p:cNvSpPr txBox="1"/>
          <p:nvPr/>
        </p:nvSpPr>
        <p:spPr>
          <a:xfrm>
            <a:off x="7408725" y="3949029"/>
            <a:ext cx="69773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project helped us understand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frontend–backend integration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 handling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</a:t>
            </a: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application flow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more time, features like likes, analytics,      and image uploads can be added.</a:t>
            </a:r>
          </a:p>
          <a:p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simple yet complete platform built to learn, create, and share.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BF1567D-93D9-A221-ED64-0D582CE00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7" y="128136"/>
            <a:ext cx="1540503" cy="154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38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795D-4688-A252-5410-3317EB54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Best Thanks PowerPoint &amp; Google Slides Templates - SlideEgg">
            <a:extLst>
              <a:ext uri="{FF2B5EF4-FFF2-40B4-BE49-F238E27FC236}">
                <a16:creationId xmlns:a16="http://schemas.microsoft.com/office/drawing/2014/main" id="{2F96646C-61E2-9B46-0DE4-7092FD1E1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9224E0-38E4-9B49-177F-C69344503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054" y="0"/>
            <a:ext cx="1906292" cy="190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91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751</Words>
  <Application>Microsoft Office PowerPoint</Application>
  <PresentationFormat>Custom</PresentationFormat>
  <Paragraphs>184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Open Sans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Chirag Gupta</dc:creator>
  <cp:lastModifiedBy>Chirag gupta</cp:lastModifiedBy>
  <cp:revision>10</cp:revision>
  <dcterms:created xsi:type="dcterms:W3CDTF">2025-09-24T12:37:25Z</dcterms:created>
  <dcterms:modified xsi:type="dcterms:W3CDTF">2025-10-08T18:53:23Z</dcterms:modified>
</cp:coreProperties>
</file>